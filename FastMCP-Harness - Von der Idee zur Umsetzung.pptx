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Ziel: in 15 Minuten das System, den erreichten Stand und die offenen Umsetzungspunkte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Problem in einem Satz: Wir brauchen KI-Unterstützung ohne unbeaufsichtigte KI-Aktion.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Zielbild trennt Erzeugung, Ausführung und Bewertung.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Architektur, Testkopie und Datenbankschema existieren; einige Integrationsnachweise fehlen noch.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Die Reihenfolge verhindert, dass Infrastruktur ohne Governance und Evaluation produktiv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Offene Punkte sind Freigabebedingungen, keine kosmetischen Aufgaben.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Ein Pilot darf nur mit klarer Abbruch- und Freigabelogik starten.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Nicht die Vollproduktion freigeben; Pilot mit Owner, Termin und Abbruchkriterien.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Vortragshinweise</a:t>
            </a:r>
          </a:p>
          <a:p>
            <a:r>
              <a:t>• Die verfügbare Fragezeit am Ende dieser Präsentation ist begrenzt.</a:t>
            </a:r>
          </a:p>
          <a:p>
            <a:r>
              <a:t>• Alle Beteiligten sind ausdrücklich eingeladen, das Projektteam im Anschluss zu kontaktieren.</a:t>
            </a:r>
          </a:p>
          <a:p>
            <a:r>
              <a:t>• Für komplexe fachliche, organisatorische oder rechtliche Fragen wird ein separater Termin vereinbart.</a:t>
            </a:r>
          </a:p>
          <a:p>
            <a:r>
              <a:t>• Kontaktweg, Ansprechpartner und Terminkoordination nach den organisatorischen Vorgaben des Projekts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A9420"/>
          </a:solidFill>
          <a:ln>
            <a:solidFill>
              <a:srgbClr val="DA9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DEBF1"/>
                </a:solidFill>
                <a:latin typeface="Aptos"/>
              </a:rPr>
              <a:t>15-MINUTEN-TECHNIKBRIEFING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FastMCP-Harness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DDEBF1"/>
                </a:solidFill>
                <a:latin typeface="Aptos"/>
              </a:rPr>
              <a:t>Von der Idee zur Umsetzung – und was noch fehlt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669280" cy="914400"/>
          </a:xfrm>
          <a:prstGeom prst="roundRect">
            <a:avLst/>
          </a:prstGeom>
          <a:solidFill>
            <a:srgbClr val="1F4057"/>
          </a:solidFill>
          <a:ln>
            <a:solidFill>
              <a:srgbClr val="1F4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24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Kurz, prägnant und mit klarer Freigabegrenze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1 · IDEE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Das Ausgangsproblem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B36"/>
                </a:solidFill>
                <a:latin typeface="Aptos"/>
              </a:defRPr>
            </a:pPr>
            <a:r>
              <a:t>• LLM-Ausgaben sind nützlich, aber nicht automatisch verlässlich.</a:t>
            </a:r>
          </a:p>
          <a:p>
            <a:pPr>
              <a:spcAft>
                <a:spcPts val="900"/>
              </a:spcAft>
              <a:defRPr sz="1800">
                <a:solidFill>
                  <a:srgbClr val="202B36"/>
                </a:solidFill>
                <a:latin typeface="Aptos"/>
              </a:defRPr>
            </a:pPr>
            <a:r>
              <a:t>• Direkte Modellzugriffe erschweren Nachvollziehbarkeit, Datenschutz und Freigaben.</a:t>
            </a:r>
          </a:p>
          <a:p>
            <a:pPr>
              <a:spcAft>
                <a:spcPts val="900"/>
              </a:spcAft>
              <a:defRPr sz="1800">
                <a:solidFill>
                  <a:srgbClr val="202B36"/>
                </a:solidFill>
                <a:latin typeface="Aptos"/>
              </a:defRPr>
            </a:pPr>
            <a:r>
              <a:t>• Security- und Governance-Prüfungen dürfen nicht vom LLM selbst abhängen.</a:t>
            </a:r>
          </a:p>
          <a:p>
            <a:pPr>
              <a:spcAft>
                <a:spcPts val="900"/>
              </a:spcAft>
              <a:defRPr sz="1800">
                <a:solidFill>
                  <a:srgbClr val="202B36"/>
                </a:solidFill>
                <a:latin typeface="Aptos"/>
              </a:defRPr>
            </a:pPr>
            <a:r>
              <a:t>• Produktive Mutationen müssen technisch ausgeschlossen bleiben.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2 · ZIELBILD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Die Kontrollkette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331720" cy="1645920"/>
          </a:xfrm>
          <a:prstGeom prst="roundRect">
            <a:avLst/>
          </a:prstGeom>
          <a:solidFill>
            <a:srgbClr val="EFF5F7"/>
          </a:solidFill>
          <a:ln>
            <a:solidFill>
              <a:srgbClr val="EF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331720" cy="109728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22199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B40"/>
                </a:solidFill>
                <a:latin typeface="Aptos"/>
              </a:rPr>
              <a:t>Datensätze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614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02B36"/>
                </a:solidFill>
                <a:latin typeface="Aptos"/>
              </a:rPr>
              <a:t>versionierte Fälle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487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5B6975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920240"/>
            <a:ext cx="2331720" cy="1645920"/>
          </a:xfrm>
          <a:prstGeom prst="roundRect">
            <a:avLst/>
          </a:prstGeom>
          <a:solidFill>
            <a:srgbClr val="EFF5F7"/>
          </a:solidFill>
          <a:ln>
            <a:solidFill>
              <a:srgbClr val="EF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920240"/>
            <a:ext cx="2331720" cy="10972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22199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B40"/>
                </a:solidFill>
                <a:latin typeface="Aptos"/>
              </a:rPr>
              <a:t>Harness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614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02B36"/>
                </a:solidFill>
                <a:latin typeface="Aptos"/>
              </a:rPr>
              <a:t>Orchestrierung und 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2487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5B6975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2331720" cy="1645920"/>
          </a:xfrm>
          <a:prstGeom prst="roundRect">
            <a:avLst/>
          </a:prstGeom>
          <a:solidFill>
            <a:srgbClr val="EFF5F7"/>
          </a:solidFill>
          <a:ln>
            <a:solidFill>
              <a:srgbClr val="EF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2331720" cy="109728"/>
          </a:xfrm>
          <a:prstGeom prst="rect">
            <a:avLst/>
          </a:prstGeom>
          <a:solidFill>
            <a:srgbClr val="DA9420"/>
          </a:solidFill>
          <a:ln>
            <a:solidFill>
              <a:srgbClr val="DA9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2199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B40"/>
                </a:solidFill>
                <a:latin typeface="Aptos"/>
              </a:rPr>
              <a:t>LLM/App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614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02B36"/>
                </a:solidFill>
                <a:latin typeface="Aptos"/>
              </a:rPr>
              <a:t>Modellantwort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487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5B6975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1920240"/>
            <a:ext cx="2331720" cy="1645920"/>
          </a:xfrm>
          <a:prstGeom prst="roundRect">
            <a:avLst/>
          </a:prstGeom>
          <a:solidFill>
            <a:srgbClr val="EFF5F7"/>
          </a:solidFill>
          <a:ln>
            <a:solidFill>
              <a:srgbClr val="EF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39" y="1920240"/>
            <a:ext cx="2331720" cy="109728"/>
          </a:xfrm>
          <a:prstGeom prst="rect">
            <a:avLst/>
          </a:prstGeom>
          <a:solidFill>
            <a:srgbClr val="B23E3E"/>
          </a:solidFill>
          <a:ln>
            <a:solidFill>
              <a:srgbClr val="B2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222199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B40"/>
                </a:solidFill>
                <a:latin typeface="Aptos"/>
              </a:rP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7614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02B36"/>
                </a:solidFill>
                <a:latin typeface="Aptos"/>
              </a:rPr>
              <a:t>unabhängiger Richter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06991"/>
                </a:solidFill>
                <a:latin typeface="Aptos"/>
              </a:rPr>
              <a:t>Gateway davor: Nginx → LiteLLM → getrennte RAG-/Coding-Backends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3 · ERREICHT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Was heute bereits funktioniert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02B36"/>
                </a:solidFill>
                <a:latin typeface="Aptos"/>
              </a:defRPr>
            </a:pPr>
            <a:r>
              <a:t>• isolierte FastMCP-Harness-Testkopie auf eigenem Port</a:t>
            </a:r>
          </a:p>
          <a:p>
            <a:pPr>
              <a:spcAft>
                <a:spcPts val="900"/>
              </a:spcAft>
              <a:defRPr sz="1500">
                <a:solidFill>
                  <a:srgbClr val="202B36"/>
                </a:solidFill>
                <a:latin typeface="Aptos"/>
              </a:defRPr>
            </a:pPr>
            <a:r>
              <a:t>• read-only Harness mit Python-/YAML-/Trivy- und Governance-Gates</a:t>
            </a:r>
          </a:p>
          <a:p>
            <a:pPr>
              <a:spcAft>
                <a:spcPts val="900"/>
              </a:spcAft>
              <a:defRPr sz="1500">
                <a:solidFill>
                  <a:srgbClr val="202B36"/>
                </a:solidFill>
                <a:latin typeface="Aptos"/>
              </a:defRPr>
            </a:pPr>
            <a:r>
              <a:t>• LM-Studio-/MCP-Verbindung erfolgreich getestet</a:t>
            </a:r>
          </a:p>
          <a:p>
            <a:pPr>
              <a:spcAft>
                <a:spcPts val="900"/>
              </a:spcAft>
              <a:defRPr sz="1500">
                <a:solidFill>
                  <a:srgbClr val="202B36"/>
                </a:solidFill>
                <a:latin typeface="Aptos"/>
              </a:defRPr>
            </a:pPr>
            <a:r>
              <a:t>• Gateway-Konfiguration für Nginx, LiteLLM und Modellgruppen vorbereitet</a:t>
            </a:r>
          </a:p>
          <a:p>
            <a:pPr>
              <a:spcAft>
                <a:spcPts val="900"/>
              </a:spcAft>
              <a:defRPr sz="1500">
                <a:solidFill>
                  <a:srgbClr val="202B36"/>
                </a:solidFill>
                <a:latin typeface="Aptos"/>
              </a:defRPr>
            </a:pPr>
            <a:r>
              <a:t>• PostgreSQL-Referenzschema für Prompt Registry, Evaluation und Evidence validiert</a:t>
            </a:r>
          </a:p>
          <a:p>
            <a:pPr>
              <a:spcAft>
                <a:spcPts val="900"/>
              </a:spcAft>
              <a:defRPr sz="1500">
                <a:solidFill>
                  <a:srgbClr val="202B36"/>
                </a:solidFill>
                <a:latin typeface="Aptos"/>
              </a:defRPr>
            </a:pPr>
            <a:r>
              <a:t>• Cloud-, BSI/C5-, ISO-42001-, EU-AI-Act- und DSGVO-Dokumentation vorhanden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4 ·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Wie der Weg in die Cloud aussieht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31720" cy="1874519"/>
          </a:xfrm>
          <a:prstGeom prst="roundRect">
            <a:avLst/>
          </a:prstGeom>
          <a:solidFill>
            <a:srgbClr val="EFF5F7"/>
          </a:solidFill>
          <a:ln>
            <a:solidFill>
              <a:srgbClr val="EF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53312" y="1417320"/>
            <a:ext cx="640080" cy="640080"/>
          </a:xfrm>
          <a:prstGeom prst="round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16002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3172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B40"/>
                </a:solidFill>
                <a:latin typeface="Aptos"/>
              </a:rPr>
              <a:t>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889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202B36"/>
                </a:solidFill>
                <a:latin typeface="Aptos"/>
              </a:rPr>
              <a:t>Scope, Owner, Daten, Freigaben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331720" cy="1874519"/>
          </a:xfrm>
          <a:prstGeom prst="roundRect">
            <a:avLst/>
          </a:prstGeom>
          <a:solidFill>
            <a:srgbClr val="EFF5F7"/>
          </a:solidFill>
          <a:ln>
            <a:solidFill>
              <a:srgbClr val="EF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42232" y="1417320"/>
            <a:ext cx="640080" cy="640080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2232" y="16002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3172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B40"/>
                </a:solidFill>
                <a:latin typeface="Aptos"/>
              </a:rPr>
              <a:t>Plattform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889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202B36"/>
                </a:solidFill>
                <a:latin typeface="Aptos"/>
              </a:rPr>
              <a:t>Nginx, LiteLLM, Registry, Backends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331720" cy="1874519"/>
          </a:xfrm>
          <a:prstGeom prst="roundRect">
            <a:avLst/>
          </a:prstGeom>
          <a:solidFill>
            <a:srgbClr val="EFF5F7"/>
          </a:solidFill>
          <a:ln>
            <a:solidFill>
              <a:srgbClr val="EF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31152" y="1417320"/>
            <a:ext cx="640080" cy="640080"/>
          </a:xfrm>
          <a:prstGeom prst="roundRect">
            <a:avLst/>
          </a:prstGeom>
          <a:solidFill>
            <a:srgbClr val="DA9420"/>
          </a:solidFill>
          <a:ln>
            <a:solidFill>
              <a:srgbClr val="DA9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16002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3172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B40"/>
                </a:solidFill>
                <a:latin typeface="Aptos"/>
              </a:rPr>
              <a:t>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889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202B36"/>
                </a:solidFill>
                <a:latin typeface="Aptos"/>
              </a:rPr>
              <a:t>Datensätze, Evaluation, Richter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1828800"/>
            <a:ext cx="2331720" cy="1874519"/>
          </a:xfrm>
          <a:prstGeom prst="roundRect">
            <a:avLst/>
          </a:prstGeom>
          <a:solidFill>
            <a:srgbClr val="EFF5F7"/>
          </a:solidFill>
          <a:ln>
            <a:solidFill>
              <a:srgbClr val="EF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20071" y="1417320"/>
            <a:ext cx="640080" cy="640080"/>
          </a:xfrm>
          <a:prstGeom prst="roundRect">
            <a:avLst/>
          </a:prstGeom>
          <a:solidFill>
            <a:srgbClr val="B23E3E"/>
          </a:solidFill>
          <a:ln>
            <a:solidFill>
              <a:srgbClr val="B2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1" y="16002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33172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B40"/>
                </a:solidFill>
                <a:latin typeface="Aptos"/>
              </a:rPr>
              <a:t>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78892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202B36"/>
                </a:solidFill>
                <a:latin typeface="Aptos"/>
              </a:rPr>
              <a:t>isolierter Cloudbetrieb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5 · OFFEN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Was noch gemacht werden muss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202B36"/>
                </a:solidFill>
                <a:latin typeface="Aptos"/>
              </a:defRPr>
            </a:pPr>
            <a:r>
              <a:t>• Nginx-Portfreigabe und produktives TLS end-to-end nachweisen</a:t>
            </a:r>
          </a:p>
          <a:p>
            <a:pPr>
              <a:spcAft>
                <a:spcPts val="900"/>
              </a:spcAft>
              <a:defRPr sz="1450">
                <a:solidFill>
                  <a:srgbClr val="202B36"/>
                </a:solidFill>
                <a:latin typeface="Aptos"/>
              </a:defRPr>
            </a:pPr>
            <a:r>
              <a:t>• LiteLLM-ACLs, API-Keys, Tokenlimits und Retention festlegen</a:t>
            </a:r>
          </a:p>
          <a:p>
            <a:pPr>
              <a:spcAft>
                <a:spcPts val="900"/>
              </a:spcAft>
              <a:defRPr sz="1450">
                <a:solidFill>
                  <a:srgbClr val="202B36"/>
                </a:solidFill>
                <a:latin typeface="Aptos"/>
              </a:defRPr>
            </a:pPr>
            <a:r>
              <a:t>• getrennte Ollama-RAG-/Coding-Backends vollständig testen</a:t>
            </a:r>
          </a:p>
          <a:p>
            <a:pPr>
              <a:spcAft>
                <a:spcPts val="900"/>
              </a:spcAft>
              <a:defRPr sz="1450">
                <a:solidFill>
                  <a:srgbClr val="202B36"/>
                </a:solidFill>
                <a:latin typeface="Aptos"/>
              </a:defRPr>
            </a:pPr>
            <a:r>
              <a:t>• GPU-/ROCm-Betrieb oder verbindliche CPU-Grenzen abnehmen</a:t>
            </a:r>
          </a:p>
          <a:p>
            <a:pPr>
              <a:spcAft>
                <a:spcPts val="900"/>
              </a:spcAft>
              <a:defRPr sz="1450">
                <a:solidFill>
                  <a:srgbClr val="202B36"/>
                </a:solidFill>
                <a:latin typeface="Aptos"/>
              </a:defRPr>
            </a:pPr>
            <a:r>
              <a:t>• Datensatz-Pipeline und unabhängige Evaluation-/Richter-Suite implementieren</a:t>
            </a:r>
          </a:p>
          <a:p>
            <a:pPr>
              <a:spcAft>
                <a:spcPts val="900"/>
              </a:spcAft>
              <a:defRPr sz="1450">
                <a:solidFill>
                  <a:srgbClr val="202B36"/>
                </a:solidFill>
                <a:latin typeface="Aptos"/>
              </a:defRPr>
            </a:pPr>
            <a:r>
              <a:t>• PII-/Secret-Scans, Evidence Bundle und Human Oversight als Pflichtgates aktivieren</a:t>
            </a:r>
          </a:p>
          <a:p>
            <a:pPr>
              <a:spcAft>
                <a:spcPts val="900"/>
              </a:spcAft>
              <a:defRPr sz="1450">
                <a:solidFill>
                  <a:srgbClr val="202B36"/>
                </a:solidFill>
                <a:latin typeface="Aptos"/>
              </a:defRPr>
            </a:pPr>
            <a:r>
              <a:t>• Governance-Owner und Rechts-/Datenschutzbewertungen abschließen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6991"/>
                </a:solidFill>
                <a:latin typeface="Aptos"/>
              </a:rPr>
              <a:t>6 · FREIGABE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B40"/>
                </a:solidFill>
                <a:latin typeface="Aptos"/>
              </a:rPr>
              <a:t>Wann ist ein Pilot zulässig?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B6975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194560" cy="530352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Technik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508760"/>
            <a:ext cx="7955279" cy="530352"/>
          </a:xfrm>
          <a:prstGeom prst="roundRect">
            <a:avLst/>
          </a:prstGeom>
          <a:solidFill>
            <a:srgbClr val="EFF5F7"/>
          </a:solidFill>
          <a:ln>
            <a:solidFill>
              <a:srgbClr val="EF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45919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B36"/>
                </a:solidFill>
                <a:latin typeface="Aptos"/>
              </a:rPr>
              <a:t>Gateway, Routing, Backends und Harness funktionieren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2194560" cy="530352"/>
          </a:xfrm>
          <a:prstGeom prst="roundRect">
            <a:avLst/>
          </a:prstGeom>
          <a:solidFill>
            <a:srgbClr val="206991"/>
          </a:solidFill>
          <a:ln>
            <a:solidFill>
              <a:srgbClr val="20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414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Sicherheit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286000"/>
            <a:ext cx="7955279" cy="530352"/>
          </a:xfrm>
          <a:prstGeom prst="roundRect">
            <a:avLst/>
          </a:prstGeom>
          <a:solidFill>
            <a:srgbClr val="EFF5F7"/>
          </a:solidFill>
          <a:ln>
            <a:solidFill>
              <a:srgbClr val="EF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4231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B36"/>
                </a:solidFill>
                <a:latin typeface="Aptos"/>
              </a:rPr>
              <a:t>TLS, ACLs, Scans und No-Mutation nachgewiesen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39"/>
            <a:ext cx="2194560" cy="530352"/>
          </a:xfrm>
          <a:prstGeom prst="roundRect">
            <a:avLst/>
          </a:prstGeom>
          <a:solidFill>
            <a:srgbClr val="DA9420"/>
          </a:solidFill>
          <a:ln>
            <a:solidFill>
              <a:srgbClr val="DA9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1868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Governance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063239"/>
            <a:ext cx="7955279" cy="530352"/>
          </a:xfrm>
          <a:prstGeom prst="roundRect">
            <a:avLst/>
          </a:prstGeom>
          <a:solidFill>
            <a:srgbClr val="EFF5F7"/>
          </a:solidFill>
          <a:ln>
            <a:solidFill>
              <a:srgbClr val="EF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200399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B36"/>
                </a:solidFill>
                <a:latin typeface="Aptos"/>
              </a:rPr>
              <a:t>ISO 42001, EU AI Act, DSGVO und Owner geklärt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79"/>
            <a:ext cx="2194560" cy="530352"/>
          </a:xfrm>
          <a:prstGeom prst="roundRect">
            <a:avLst/>
          </a:prstGeom>
          <a:solidFill>
            <a:srgbClr val="B23E3E"/>
          </a:solidFill>
          <a:ln>
            <a:solidFill>
              <a:srgbClr val="B2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95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Nachweis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840479"/>
            <a:ext cx="7955279" cy="530352"/>
          </a:xfrm>
          <a:prstGeom prst="roundRect">
            <a:avLst/>
          </a:prstGeom>
          <a:solidFill>
            <a:srgbClr val="EFF5F7"/>
          </a:solidFill>
          <a:ln>
            <a:solidFill>
              <a:srgbClr val="EF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977639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02B36"/>
                </a:solidFill>
                <a:latin typeface="Aptos"/>
              </a:rPr>
              <a:t>Evaluation, Evidence, Backup und Incident-Prozess vorhanden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A9420"/>
          </a:solidFill>
          <a:ln>
            <a:solidFill>
              <a:srgbClr val="DA9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DEBF1"/>
                </a:solidFill>
                <a:latin typeface="Aptos"/>
              </a:rPr>
              <a:t>7 · ENTSCHEIDUNG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BF1"/>
                </a:solidFill>
                <a:latin typeface="Aptos"/>
              </a:rPr>
              <a:t>Empfehlung: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isolierten Cloud-Pilot freigeben –
aber nur mit harten Gates.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9875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Owner und Scope benennen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offene Zielarchitektur-ToDos terminieren</a:t>
            </a:r>
          </a:p>
          <a:p>
            <a:pPr>
              <a:spcAft>
                <a:spcPts val="900"/>
              </a:spcAft>
              <a:defRPr sz="1700">
                <a:solidFill>
                  <a:srgbClr val="202B36"/>
                </a:solidFill>
                <a:latin typeface="Aptos"/>
              </a:defRPr>
            </a:pPr>
            <a:r>
              <a:t>• Evaluation und Evidence als Pflichtumfang behandeln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A9420"/>
          </a:solidFill>
          <a:ln>
            <a:solidFill>
              <a:srgbClr val="DA9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DEBF1"/>
                </a:solidFill>
                <a:latin typeface="Aptos"/>
              </a:rPr>
              <a:t>AUSTAUSCH UND 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Fragen sind willkommen.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DEBF1"/>
                </a:solidFill>
                <a:latin typeface="Aptos"/>
              </a:rPr>
              <a:t>Für den heutigen Termin steht nur begrenzte Zeit für Fragen zur Verfügung.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10607040" cy="1325880"/>
          </a:xfrm>
          <a:prstGeom prst="roundRect">
            <a:avLst/>
          </a:prstGeom>
          <a:solidFill>
            <a:srgbClr val="1F4057"/>
          </a:solidFill>
          <a:ln>
            <a:solidFill>
              <a:srgbClr val="1F4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Bitte sprechen Sie das Projektteam gerne an, um einen separaten Termin zu vereinbaren.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DEBF1"/>
                </a:solidFill>
                <a:latin typeface="Aptos"/>
              </a:rPr>
              <a:t>Dort können Ihre Fragen ausführlich, fachlich fundiert und bestmöglich beantwortet werden.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DEBF1"/>
                </a:solidFill>
                <a:latin typeface="Aptos"/>
              </a:rPr>
              <a:t>Vielen Dank für Ihre Aufmerksamkeit.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FastMCP-Harness - Von der Idee zur Umsetzung</dc:title>
  <dc:subject>15-Minuten-Technikbriefing</dc:subject>
  <dc:creator>FastMCP-Harness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