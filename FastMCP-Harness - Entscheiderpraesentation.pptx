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Vortragshinweise</a:t>
            </a:r>
          </a:p>
          <a:p>
            <a:r>
              <a:t>• Ziel ist eine Entscheidung über einen kontrollierten Pilotbetrieb.</a:t>
            </a:r>
          </a:p>
          <a:p>
            <a:r>
              <a:t>• Technik unterstützt Compliance, ersetzt aber keine Rechts- oder Organisationsverantwortung.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Vortragshinweise</a:t>
            </a:r>
          </a:p>
          <a:p>
            <a:r>
              <a:t>• Diese Folie auf Managementebene erläutern.</a:t>
            </a:r>
          </a:p>
          <a:p>
            <a:r>
              <a:t>• Offene Punkte als Entscheidungen mit Owner und Termin behandeln.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Vortragshinweise</a:t>
            </a:r>
          </a:p>
          <a:p>
            <a:r>
              <a:t>• Diese Folie auf Managementebene erläutern.</a:t>
            </a:r>
          </a:p>
          <a:p>
            <a:r>
              <a:t>• Offene Punkte als Entscheidungen mit Owner und Termin behandeln.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Vortragshinweise</a:t>
            </a:r>
          </a:p>
          <a:p>
            <a:r>
              <a:t>• Diese Folie auf Managementebene erläutern.</a:t>
            </a:r>
          </a:p>
          <a:p>
            <a:r>
              <a:t>• Offene Punkte als Entscheidungen mit Owner und Termin behandeln.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Vortragshinweise</a:t>
            </a:r>
          </a:p>
          <a:p>
            <a:r>
              <a:t>• Diese Folie auf Managementebene erläutern.</a:t>
            </a:r>
          </a:p>
          <a:p>
            <a:r>
              <a:t>• Offene Punkte als Entscheidungen mit Owner und Termin behandeln.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Vortragshinweise</a:t>
            </a:r>
          </a:p>
          <a:p>
            <a:r>
              <a:t>• Diese Folie auf Managementebene erläutern.</a:t>
            </a:r>
          </a:p>
          <a:p>
            <a:r>
              <a:t>• Offene Punkte als Entscheidungen mit Owner und Termin behandeln.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Vortragshinweise</a:t>
            </a:r>
          </a:p>
          <a:p>
            <a:r>
              <a:t>• Diese Folie auf Managementebene erläutern.</a:t>
            </a:r>
          </a:p>
          <a:p>
            <a:r>
              <a:t>• Offene Punkte als Entscheidungen mit Owner und Termin behandeln.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Vortragshinweise</a:t>
            </a:r>
          </a:p>
          <a:p>
            <a:r>
              <a:t>• Diese Folie auf Managementebene erläutern.</a:t>
            </a:r>
          </a:p>
          <a:p>
            <a:r>
              <a:t>• Offene Punkte als Entscheidungen mit Owner und Termin behandeln.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Vortragshinweise</a:t>
            </a:r>
          </a:p>
          <a:p>
            <a:r>
              <a:t>• Diese Folie auf Managementebene erläutern.</a:t>
            </a:r>
          </a:p>
          <a:p>
            <a:r>
              <a:t>• Offene Punkte als Entscheidungen mit Owner und Termin behandeln.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Vortragshinweise</a:t>
            </a:r>
          </a:p>
          <a:p>
            <a:r>
              <a:t>• Diese Folie auf Managementebene erläutern.</a:t>
            </a:r>
          </a:p>
          <a:p>
            <a:r>
              <a:t>• Offene Punkte als Entscheidungen mit Owner und Termin behandeln.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B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DA9420"/>
          </a:solidFill>
          <a:ln>
            <a:solidFill>
              <a:srgbClr val="DA9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DEBF1"/>
                </a:solidFill>
                <a:latin typeface="Aptos"/>
              </a:rPr>
              <a:t>ENTSCHEIDERPRÄSENTATION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tos"/>
              </a:rPr>
              <a:t>FastMCP-Harness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23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DEBF1"/>
                </a:solidFill>
                <a:latin typeface="Aptos"/>
              </a:rPr>
              <a:t>Kontrollierte KI-Nutzung für Cloudbetrieb, Security und Compliance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86200"/>
            <a:ext cx="5852160" cy="914400"/>
          </a:xfrm>
          <a:prstGeom prst="roundRect">
            <a:avLst/>
          </a:prstGeom>
          <a:solidFill>
            <a:srgbClr val="1F4057"/>
          </a:solidFill>
          <a:ln>
            <a:solidFill>
              <a:srgbClr val="1F4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169663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Entscheidungsvorlage für Zielbild, Risiken, Freigaben und nächste Schritte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06991"/>
          </a:solidFill>
          <a:ln>
            <a:solidFill>
              <a:srgbClr val="20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06991"/>
                </a:solidFill>
                <a:latin typeface="Aptos"/>
              </a:rPr>
              <a:t>KURZFASSUNG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2B40"/>
                </a:solidFill>
                <a:latin typeface="Aptos"/>
              </a:rPr>
              <a:t>Die zentrale Entscheidung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657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5B6975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02B36"/>
                </a:solidFill>
                <a:latin typeface="Aptos"/>
              </a:defRPr>
            </a:pPr>
            <a:r>
              <a:t>• Technischer Nutzen: kontrollierte Modell- und Tool-Nutzung</a:t>
            </a:r>
          </a:p>
          <a:p>
            <a:pPr>
              <a:spcAft>
                <a:spcPts val="900"/>
              </a:spcAft>
              <a:defRPr sz="1700">
                <a:solidFill>
                  <a:srgbClr val="202B36"/>
                </a:solidFill>
                <a:latin typeface="Aptos"/>
              </a:defRPr>
            </a:pPr>
            <a:r>
              <a:t>• Risikonutzen: keine ungeprüften Produktionsmutationen</a:t>
            </a:r>
          </a:p>
          <a:p>
            <a:pPr>
              <a:spcAft>
                <a:spcPts val="900"/>
              </a:spcAft>
              <a:defRPr sz="1700">
                <a:solidFill>
                  <a:srgbClr val="202B36"/>
                </a:solidFill>
                <a:latin typeface="Aptos"/>
              </a:defRPr>
            </a:pPr>
            <a:r>
              <a:t>• Compliance-Nutzen: versionierte Nachweise und menschliche Freigaben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06991"/>
          </a:solidFill>
          <a:ln>
            <a:solidFill>
              <a:srgbClr val="20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06991"/>
                </a:solidFill>
                <a:latin typeface="Aptos"/>
              </a:rPr>
              <a:t>ZIELBILD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2B40"/>
                </a:solidFill>
                <a:latin typeface="Aptos"/>
              </a:rPr>
              <a:t>Vom direkten Modellaufruf zur kontrollierten Plattform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657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5B6975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02B36"/>
                </a:solidFill>
                <a:latin typeface="Aptos"/>
              </a:defRPr>
            </a:pPr>
            <a:r>
              <a:t>• Nginx: TLS, Authentifizierung und Rate Limit</a:t>
            </a:r>
          </a:p>
          <a:p>
            <a:pPr>
              <a:spcAft>
                <a:spcPts val="900"/>
              </a:spcAft>
              <a:defRPr sz="1700">
                <a:solidFill>
                  <a:srgbClr val="202B36"/>
                </a:solidFill>
                <a:latin typeface="Aptos"/>
              </a:defRPr>
            </a:pPr>
            <a:r>
              <a:t>• LiteLLM: Routing, ACLs und Token-Tracking</a:t>
            </a:r>
          </a:p>
          <a:p>
            <a:pPr>
              <a:spcAft>
                <a:spcPts val="900"/>
              </a:spcAft>
              <a:defRPr sz="1700">
                <a:solidFill>
                  <a:srgbClr val="202B36"/>
                </a:solidFill>
                <a:latin typeface="Aptos"/>
              </a:defRPr>
            </a:pPr>
            <a:r>
              <a:t>• FastMCP: read-only Orchestrierung</a:t>
            </a:r>
          </a:p>
          <a:p>
            <a:pPr>
              <a:spcAft>
                <a:spcPts val="900"/>
              </a:spcAft>
              <a:defRPr sz="1700">
                <a:solidFill>
                  <a:srgbClr val="202B36"/>
                </a:solidFill>
                <a:latin typeface="Aptos"/>
              </a:defRPr>
            </a:pPr>
            <a:r>
              <a:t>• Evaluation: unabhängige Bewertung und Freigabe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06991"/>
          </a:solidFill>
          <a:ln>
            <a:solidFill>
              <a:srgbClr val="20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06991"/>
                </a:solidFill>
                <a:latin typeface="Aptos"/>
              </a:rPr>
              <a:t>NUTZEN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2B40"/>
                </a:solidFill>
                <a:latin typeface="Aptos"/>
              </a:rPr>
              <a:t>Welches Problem wird gelöst?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657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5B6975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02B36"/>
                </a:solidFill>
                <a:latin typeface="Aptos"/>
              </a:defRPr>
            </a:pPr>
            <a:r>
              <a:t>• Nachvollziehbare Modell-, Prompt- und Policy-Versionen</a:t>
            </a:r>
          </a:p>
          <a:p>
            <a:pPr>
              <a:spcAft>
                <a:spcPts val="900"/>
              </a:spcAft>
              <a:defRPr sz="1700">
                <a:solidFill>
                  <a:srgbClr val="202B36"/>
                </a:solidFill>
                <a:latin typeface="Aptos"/>
              </a:defRPr>
            </a:pPr>
            <a:r>
              <a:t>• Reduzierte Risiken durch read-only-Gates</a:t>
            </a:r>
          </a:p>
          <a:p>
            <a:pPr>
              <a:spcAft>
                <a:spcPts val="900"/>
              </a:spcAft>
              <a:defRPr sz="1700">
                <a:solidFill>
                  <a:srgbClr val="202B36"/>
                </a:solidFill>
                <a:latin typeface="Aptos"/>
              </a:defRPr>
            </a:pPr>
            <a:r>
              <a:t>• Getrennte Modellgruppen und Cloud-Betriebsgrenzen</a:t>
            </a:r>
          </a:p>
          <a:p>
            <a:pPr>
              <a:spcAft>
                <a:spcPts val="900"/>
              </a:spcAft>
              <a:defRPr sz="1700">
                <a:solidFill>
                  <a:srgbClr val="202B36"/>
                </a:solidFill>
                <a:latin typeface="Aptos"/>
              </a:defRPr>
            </a:pPr>
            <a:r>
              <a:t>• Auditierbare technische und menschliche Entscheidungen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06991"/>
          </a:solidFill>
          <a:ln>
            <a:solidFill>
              <a:srgbClr val="20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06991"/>
                </a:solidFill>
                <a:latin typeface="Aptos"/>
              </a:rPr>
              <a:t>RISIKEN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2B40"/>
                </a:solidFill>
                <a:latin typeface="Aptos"/>
              </a:rPr>
              <a:t>Welche Risiken werden adressiert?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657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5B6975"/>
                </a:solidFill>
                <a:latin typeface="Apto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02B36"/>
                </a:solidFill>
                <a:latin typeface="Aptos"/>
              </a:defRPr>
            </a:pPr>
            <a:r>
              <a:t>• Ungeprüfte KI-Ausgaben: Evaluation und Human Oversight</a:t>
            </a:r>
          </a:p>
          <a:p>
            <a:pPr>
              <a:spcAft>
                <a:spcPts val="900"/>
              </a:spcAft>
              <a:defRPr sz="1700">
                <a:solidFill>
                  <a:srgbClr val="202B36"/>
                </a:solidFill>
                <a:latin typeface="Aptos"/>
              </a:defRPr>
            </a:pPr>
            <a:r>
              <a:t>• Prompt Injection: Policies und Testfälle</a:t>
            </a:r>
          </a:p>
          <a:p>
            <a:pPr>
              <a:spcAft>
                <a:spcPts val="900"/>
              </a:spcAft>
              <a:defRPr sz="1700">
                <a:solidFill>
                  <a:srgbClr val="202B36"/>
                </a:solidFill>
                <a:latin typeface="Aptos"/>
              </a:defRPr>
            </a:pPr>
            <a:r>
              <a:t>• Datenabfluss: PII-/Secret-Scan und Retention</a:t>
            </a:r>
          </a:p>
          <a:p>
            <a:pPr>
              <a:spcAft>
                <a:spcPts val="900"/>
              </a:spcAft>
              <a:defRPr sz="1700">
                <a:solidFill>
                  <a:srgbClr val="202B36"/>
                </a:solidFill>
                <a:latin typeface="Aptos"/>
              </a:defRPr>
            </a:pPr>
            <a:r>
              <a:t>• Fehlkonfiguration: Gateway- und Harness-Gates</a:t>
            </a:r>
          </a:p>
          <a:p>
            <a:pPr>
              <a:spcAft>
                <a:spcPts val="900"/>
              </a:spcAft>
              <a:defRPr sz="1700">
                <a:solidFill>
                  <a:srgbClr val="202B36"/>
                </a:solidFill>
                <a:latin typeface="Aptos"/>
              </a:defRPr>
            </a:pPr>
            <a:r>
              <a:t>• Ausfälle: Backup, Restore und Incident Response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06991"/>
          </a:solidFill>
          <a:ln>
            <a:solidFill>
              <a:srgbClr val="20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06991"/>
                </a:solidFill>
                <a:latin typeface="Aptos"/>
              </a:rPr>
              <a:t>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2B40"/>
                </a:solidFill>
                <a:latin typeface="Aptos"/>
              </a:rPr>
              <a:t>Welche Rahmenwerke werden berücksichtigt?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657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5B6975"/>
                </a:solidFill>
                <a:latin typeface="Aptos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02B36"/>
                </a:solidFill>
                <a:latin typeface="Aptos"/>
              </a:defRPr>
            </a:pPr>
            <a:r>
              <a:t>• ISO/IEC 42001: KI-Risiken, Owner, Aufsicht und Verbesserung</a:t>
            </a:r>
          </a:p>
          <a:p>
            <a:pPr>
              <a:spcAft>
                <a:spcPts val="900"/>
              </a:spcAft>
              <a:defRPr sz="1700">
                <a:solidFill>
                  <a:srgbClr val="202B36"/>
                </a:solidFill>
                <a:latin typeface="Aptos"/>
              </a:defRPr>
            </a:pPr>
            <a:r>
              <a:t>• EU AI Act: Zweck, Risikokategorie, Transparenz und Robustheit</a:t>
            </a:r>
          </a:p>
          <a:p>
            <a:pPr>
              <a:spcAft>
                <a:spcPts val="900"/>
              </a:spcAft>
              <a:defRPr sz="1700">
                <a:solidFill>
                  <a:srgbClr val="202B36"/>
                </a:solidFill>
                <a:latin typeface="Aptos"/>
              </a:defRPr>
            </a:pPr>
            <a:r>
              <a:t>• DSGVO/BDSG: Rechtsgrundlage, Minimierung und Löschung</a:t>
            </a:r>
          </a:p>
          <a:p>
            <a:pPr>
              <a:spcAft>
                <a:spcPts val="900"/>
              </a:spcAft>
              <a:defRPr sz="1700">
                <a:solidFill>
                  <a:srgbClr val="202B36"/>
                </a:solidFill>
                <a:latin typeface="Aptos"/>
              </a:defRPr>
            </a:pPr>
            <a:r>
              <a:t>• BSI/C5: Kontrollziele, Audit und Nachweise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06991"/>
          </a:solidFill>
          <a:ln>
            <a:solidFill>
              <a:srgbClr val="20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06991"/>
                </a:solidFill>
                <a:latin typeface="Aptos"/>
              </a:rPr>
              <a:t>AUFWAND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2B40"/>
                </a:solidFill>
                <a:latin typeface="Aptos"/>
              </a:rPr>
              <a:t>Welche Investitionen sind erforderlich?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657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5B6975"/>
                </a:solidFill>
                <a:latin typeface="Aptos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02B36"/>
                </a:solidFill>
                <a:latin typeface="Aptos"/>
              </a:defRPr>
            </a:pPr>
            <a:r>
              <a:t>• Cloudbetrieb mit Nginx, LiteLLM und PostgreSQL</a:t>
            </a:r>
          </a:p>
          <a:p>
            <a:pPr>
              <a:spcAft>
                <a:spcPts val="900"/>
              </a:spcAft>
              <a:defRPr sz="1700">
                <a:solidFill>
                  <a:srgbClr val="202B36"/>
                </a:solidFill>
                <a:latin typeface="Aptos"/>
              </a:defRPr>
            </a:pPr>
            <a:r>
              <a:t>• Getrennte RAG-/Coding-Backends</a:t>
            </a:r>
          </a:p>
          <a:p>
            <a:pPr>
              <a:spcAft>
                <a:spcPts val="900"/>
              </a:spcAft>
              <a:defRPr sz="1700">
                <a:solidFill>
                  <a:srgbClr val="202B36"/>
                </a:solidFill>
                <a:latin typeface="Aptos"/>
              </a:defRPr>
            </a:pPr>
            <a:r>
              <a:t>• Datensatz-Pipeline, Evaluation und Evidence Bundle</a:t>
            </a:r>
          </a:p>
          <a:p>
            <a:pPr>
              <a:spcAft>
                <a:spcPts val="900"/>
              </a:spcAft>
              <a:defRPr sz="1700">
                <a:solidFill>
                  <a:srgbClr val="202B36"/>
                </a:solidFill>
                <a:latin typeface="Aptos"/>
              </a:defRPr>
            </a:pPr>
            <a:r>
              <a:t>• Monitoring, Backup, Restore und Incident-Prozess</a:t>
            </a:r>
          </a:p>
          <a:p>
            <a:pPr>
              <a:spcAft>
                <a:spcPts val="900"/>
              </a:spcAft>
              <a:defRPr sz="1700">
                <a:solidFill>
                  <a:srgbClr val="202B36"/>
                </a:solidFill>
                <a:latin typeface="Aptos"/>
              </a:defRPr>
            </a:pPr>
            <a:r>
              <a:t>• Owner, Rechtsprüfung und Freigabematrix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06991"/>
          </a:solidFill>
          <a:ln>
            <a:solidFill>
              <a:srgbClr val="20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06991"/>
                </a:solidFill>
                <a:latin typeface="Aptos"/>
              </a:rPr>
              <a:t>ENTSCHEIDUNGEN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2B40"/>
                </a:solidFill>
                <a:latin typeface="Aptos"/>
              </a:rPr>
              <a:t>Was muss jetzt freigegeben werden?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657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5B6975"/>
                </a:solidFill>
                <a:latin typeface="Aptos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02B36"/>
                </a:solidFill>
                <a:latin typeface="Aptos"/>
              </a:defRPr>
            </a:pPr>
            <a:r>
              <a:t>• Scope und betroffene Daten</a:t>
            </a:r>
          </a:p>
          <a:p>
            <a:pPr>
              <a:spcAft>
                <a:spcPts val="900"/>
              </a:spcAft>
              <a:defRPr sz="1700">
                <a:solidFill>
                  <a:srgbClr val="202B36"/>
                </a:solidFill>
                <a:latin typeface="Aptos"/>
              </a:defRPr>
            </a:pPr>
            <a:r>
              <a:t>• Verantwortliche für Betrieb, KI-Governance, Security und Datenschutz</a:t>
            </a:r>
          </a:p>
          <a:p>
            <a:pPr>
              <a:spcAft>
                <a:spcPts val="900"/>
              </a:spcAft>
              <a:defRPr sz="1700">
                <a:solidFill>
                  <a:srgbClr val="202B36"/>
                </a:solidFill>
                <a:latin typeface="Aptos"/>
              </a:defRPr>
            </a:pPr>
            <a:r>
              <a:t>• RPO/RTO, Retention und Service-Level</a:t>
            </a:r>
          </a:p>
          <a:p>
            <a:pPr>
              <a:spcAft>
                <a:spcPts val="900"/>
              </a:spcAft>
              <a:defRPr sz="1700">
                <a:solidFill>
                  <a:srgbClr val="202B36"/>
                </a:solidFill>
                <a:latin typeface="Aptos"/>
              </a:defRPr>
            </a:pPr>
            <a:r>
              <a:t>• CPU-Testbetrieb oder GPU-/ROCm-Zielplattform</a:t>
            </a:r>
          </a:p>
          <a:p>
            <a:pPr>
              <a:spcAft>
                <a:spcPts val="900"/>
              </a:spcAft>
              <a:defRPr sz="1700">
                <a:solidFill>
                  <a:srgbClr val="202B36"/>
                </a:solidFill>
                <a:latin typeface="Aptos"/>
              </a:defRPr>
            </a:pPr>
            <a:r>
              <a:t>• Go-/No-Go-Kriterien für Production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06991"/>
          </a:solidFill>
          <a:ln>
            <a:solidFill>
              <a:srgbClr val="20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06991"/>
                </a:solidFill>
                <a:latin typeface="Aptos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2B40"/>
                </a:solidFill>
                <a:latin typeface="Aptos"/>
              </a:rPr>
              <a:t>Empfohlene Umsetzung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657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5B6975"/>
                </a:solidFill>
                <a:latin typeface="Aptos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02B36"/>
                </a:solidFill>
                <a:latin typeface="Aptos"/>
              </a:defRPr>
            </a:pPr>
            <a:r>
              <a:t>• 1. Governance und Scope festlegen</a:t>
            </a:r>
          </a:p>
          <a:p>
            <a:pPr>
              <a:spcAft>
                <a:spcPts val="900"/>
              </a:spcAft>
              <a:defRPr sz="1700">
                <a:solidFill>
                  <a:srgbClr val="202B36"/>
                </a:solidFill>
                <a:latin typeface="Aptos"/>
              </a:defRPr>
            </a:pPr>
            <a:r>
              <a:t>• 2. Gateway, Registry und Backendtrennung betreiben</a:t>
            </a:r>
          </a:p>
          <a:p>
            <a:pPr>
              <a:spcAft>
                <a:spcPts val="900"/>
              </a:spcAft>
              <a:defRPr sz="1700">
                <a:solidFill>
                  <a:srgbClr val="202B36"/>
                </a:solidFill>
                <a:latin typeface="Aptos"/>
              </a:defRPr>
            </a:pPr>
            <a:r>
              <a:t>• 3. Datensatz- und Evaluation-Suite implementieren</a:t>
            </a:r>
          </a:p>
          <a:p>
            <a:pPr>
              <a:spcAft>
                <a:spcPts val="900"/>
              </a:spcAft>
              <a:defRPr sz="1700">
                <a:solidFill>
                  <a:srgbClr val="202B36"/>
                </a:solidFill>
                <a:latin typeface="Aptos"/>
              </a:defRPr>
            </a:pPr>
            <a:r>
              <a:t>• 4. Isolierten Cloud-Pilot abnehmen</a:t>
            </a:r>
          </a:p>
          <a:p>
            <a:pPr>
              <a:spcAft>
                <a:spcPts val="900"/>
              </a:spcAft>
              <a:defRPr sz="1700">
                <a:solidFill>
                  <a:srgbClr val="202B36"/>
                </a:solidFill>
                <a:latin typeface="Aptos"/>
              </a:defRPr>
            </a:pPr>
            <a:r>
              <a:t>• 5. Audit, Restore und Produktionsfreigabe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06991"/>
          </a:solidFill>
          <a:ln>
            <a:solidFill>
              <a:srgbClr val="20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06991"/>
                </a:solidFill>
                <a:latin typeface="Aptos"/>
              </a:rPr>
              <a:t>FAZIT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2B40"/>
                </a:solidFill>
                <a:latin typeface="Aptos"/>
              </a:rPr>
              <a:t>Kontrollierte KI statt unbeaufsichtigter Automatisierung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657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5B6975"/>
                </a:solidFill>
                <a:latin typeface="Aptos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02B36"/>
                </a:solidFill>
                <a:latin typeface="Aptos"/>
              </a:defRPr>
            </a:pPr>
            <a:r>
              <a:t>• Pilotbetrieb freigeben, nicht unkontrolliert produktiv schalten</a:t>
            </a:r>
          </a:p>
          <a:p>
            <a:pPr>
              <a:spcAft>
                <a:spcPts val="900"/>
              </a:spcAft>
              <a:defRPr sz="1700">
                <a:solidFill>
                  <a:srgbClr val="202B36"/>
                </a:solidFill>
                <a:latin typeface="Aptos"/>
              </a:defRPr>
            </a:pPr>
            <a:r>
              <a:t>• Offene Governance- und Betriebsnachweise als harte Gates behandeln</a:t>
            </a:r>
          </a:p>
          <a:p>
            <a:pPr>
              <a:spcAft>
                <a:spcPts val="900"/>
              </a:spcAft>
              <a:defRPr sz="1700">
                <a:solidFill>
                  <a:srgbClr val="202B36"/>
                </a:solidFill>
                <a:latin typeface="Aptos"/>
              </a:defRPr>
            </a:pPr>
            <a:r>
              <a:t>• Nächster Schritt: Owner, Scope und Pilotkriterien festlegen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FastMCP-Harness - Entscheiderpräsentation</dc:title>
  <dc:subject>Cloudbetrieb und Governance</dc:subject>
  <dc:creator>FastMCP-Harness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