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39" d="100"/>
          <a:sy n="239" d="100"/>
        </p:scale>
        <p:origin x="6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595C4-5A3D-49A4-93FE-2A42E6A0EA19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2070-C460-4C72-B910-3304C9EE6D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161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Wichtige Begriffe:</a:t>
            </a:r>
          </a:p>
          <a:p>
            <a:r>
              <a:rPr lang="de-DE"/>
              <a:t>- Coding-Harness: kontrollierte Prüf- und Freigabeschicht.</a:t>
            </a:r>
          </a:p>
          <a:p>
            <a:r>
              <a:rPr lang="de-DE"/>
              <a:t>- LLM: erzeugt Vorschläge, besitzt aber keine Produktionsfreigabe.</a:t>
            </a:r>
          </a:p>
          <a:p>
            <a:r>
              <a:rPr lang="de-DE"/>
              <a:t>- Policy-Gate: verbindliche Prüfung der Regeln vor jedem weiteren Schritt.</a:t>
            </a:r>
          </a:p>
          <a:p>
            <a:r>
              <a:rPr lang="de-DE"/>
              <a:t>- Read-only: Analyse ohne Datei-, Commit- oder Deployment-Rechte.</a:t>
            </a:r>
          </a:p>
          <a:p>
            <a:r>
              <a:rPr lang="de-DE"/>
              <a:t>- GitOps: Änderungen werden kontrolliert über Repository und Freigabe ausgerollt.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42070-C460-4C72-B910-3304C9EE6DE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327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Wichtige Begriffe:</a:t>
            </a:r>
          </a:p>
          <a:p>
            <a:r>
              <a:rPr lang="de-DE"/>
              <a:t>- Systemtrennung: LLM, Harness und Cluster haben getrennte Verantwortlichkeiten.</a:t>
            </a:r>
          </a:p>
          <a:p>
            <a:r>
              <a:rPr lang="de-DE"/>
              <a:t>- Least Privilege: Jede Komponente erhält nur die minimal erforderlichen Rechte.</a:t>
            </a:r>
          </a:p>
          <a:p>
            <a:r>
              <a:rPr lang="de-DE"/>
              <a:t>- Fail closed: Bei fehlender oder unsicherer Prüfung wird abgebrochen.</a:t>
            </a:r>
          </a:p>
          <a:p>
            <a:r>
              <a:rPr lang="de-DE"/>
              <a:t>- Auditierbarkeit: Entscheidungen und Prüfnachweise bleiben nachvollziehbar.</a:t>
            </a:r>
          </a:p>
          <a:p>
            <a:r>
              <a:rPr lang="de-DE"/>
              <a:t>- ArgoCD/Kyverno: nachgelagerte Kontrollen für Synchronisation und Policy-Durchsetzung.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42070-C460-4C72-B910-3304C9EE6DE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556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Wichtige Begriffe:</a:t>
            </a:r>
          </a:p>
          <a:p>
            <a:r>
              <a:rPr lang="de-DE"/>
              <a:t>- Scope-Gate: begrenzt Repository, Branch, Pfade und Datenarten.</a:t>
            </a:r>
          </a:p>
          <a:p>
            <a:r>
              <a:rPr lang="de-DE"/>
              <a:t>- Deterministisches Gate: maschinell reproduzierbare Prüfung ohne Modellinterpretation.</a:t>
            </a:r>
          </a:p>
          <a:p>
            <a:r>
              <a:rPr lang="de-DE"/>
              <a:t>- Trivy-FS: Prüfung auf Schwachstellen und Secrets im Dateisystem.</a:t>
            </a:r>
          </a:p>
          <a:p>
            <a:r>
              <a:rPr lang="de-DE"/>
              <a:t>- Trivy-Config: Prüfung von Konfigurations- und Infrastrukturdateien.</a:t>
            </a:r>
          </a:p>
          <a:p>
            <a:r>
              <a:rPr lang="de-DE"/>
              <a:t>- Exit-Code: technischer Vertrag zwischen Harness und CI/CD.</a:t>
            </a:r>
          </a:p>
          <a:p>
            <a:r>
              <a:rPr lang="de-DE"/>
              <a:t>- Harter Abbruch: kein belastbares Ergebnis, keine Freigabe.</a:t>
            </a:r>
          </a:p>
          <a:p>
            <a:r>
              <a:rPr lang="de-DE"/>
              <a:t>- CVE-Gate nach FastMCP 3.2.0: keine kritischen oder hohen Findings.`r`n- Verbleibendes Medium-Finding: CVE-2025-69872 in diskcache 5.6.3 ohne bekannte Fix-Version.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42070-C460-4C72-B910-3304C9EE6DE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2459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Wichtige Begriffe:</a:t>
            </a:r>
          </a:p>
          <a:p>
            <a:r>
              <a:rPr lang="de-DE"/>
              <a:t>- Policy-Version: eindeutig identifizierbarer Stand des Regelwerks.</a:t>
            </a:r>
          </a:p>
          <a:p>
            <a:r>
              <a:rPr lang="de-DE"/>
              <a:t>- Policy-Hash: Integritätsnachweis des verwendeten Policy-Inhalts.</a:t>
            </a:r>
          </a:p>
          <a:p>
            <a:r>
              <a:rPr lang="de-DE"/>
              <a:t>- Jira-Ticket: organisatorischer Nachweis für Aufgabe, Zuständigkeit und Eskalation.</a:t>
            </a:r>
          </a:p>
          <a:p>
            <a:r>
              <a:rPr lang="de-DE"/>
              <a:t>- Security-Review: fachliche Bewertung anhand der versionierten Sicherheitsregeln.</a:t>
            </a:r>
          </a:p>
          <a:p>
            <a:r>
              <a:rPr lang="de-DE"/>
              <a:t>- Plan/Diff: Vorschau der beabsichtigten Änderung vor dem Anwenden.</a:t>
            </a:r>
          </a:p>
          <a:p>
            <a:r>
              <a:rPr lang="de-DE"/>
              <a:t>- GitOps-Rollout: kontrollierte Übernahme durch CI/CD und ArgoCD.</a:t>
            </a:r>
          </a:p>
          <a:p>
            <a:r>
              <a:rPr lang="de-DE"/>
              <a:t>- FastMCP 3.2.0 ist der validierte Runtime-Stand.`r`n- Trivy-Scan und Security-Review sind technische Nachweise, keine automatische Produktionsfreigabe.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42070-C460-4C72-B910-3304C9EE6DE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3552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Wichtige Begriffe:</a:t>
            </a:r>
          </a:p>
          <a:p>
            <a:r>
              <a:rPr lang="de-DE"/>
              <a:t>- Vier-Augen-Prinzip: mindestens zwei berechtigte Personen prüfen und genehmigen.</a:t>
            </a:r>
          </a:p>
          <a:p>
            <a:r>
              <a:rPr lang="de-DE"/>
              <a:t>- Policy Owner: verantwortet Zweck, Geltungsbereich und Aktualität.</a:t>
            </a:r>
          </a:p>
          <a:p>
            <a:r>
              <a:rPr lang="de-DE"/>
              <a:t>- Security Reviewer: bewertet Risiken, Scans und Regelkonformität.</a:t>
            </a:r>
          </a:p>
          <a:p>
            <a:r>
              <a:rPr lang="de-DE"/>
              <a:t>- Plattformverantwortlicher: prüft Plan, Diff und technische Auswirkungen.</a:t>
            </a:r>
          </a:p>
          <a:p>
            <a:r>
              <a:rPr lang="de-DE"/>
              <a:t>- Handoff: dokumentierter Rollenübergang mit Scope, Nachweisen und Risiken.</a:t>
            </a:r>
          </a:p>
          <a:p>
            <a:r>
              <a:rPr lang="de-DE"/>
              <a:t>- Blockierkriterium: Hash-Konflikt, Scanfehler oder unklarer Scope stoppt den Prozess.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42070-C460-4C72-B910-3304C9EE6DE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954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Wichtige Begriffe:</a:t>
            </a:r>
          </a:p>
          <a:p>
            <a:r>
              <a:rPr lang="de-DE"/>
              <a:t>- Container/CI: primärer, reproduzierbarer Nachweis ohne WSL-Abhängigkeit.</a:t>
            </a:r>
          </a:p>
          <a:p>
            <a:r>
              <a:rPr lang="de-DE"/>
              <a:t>- Cluster: produktive Zielumgebung mit GitOps, ArgoCD und Kyverno.</a:t>
            </a:r>
          </a:p>
          <a:p>
            <a:r>
              <a:rPr lang="de-DE"/>
              <a:t>- WSL: optionale lokale Vorprüfung, niemals direkter Produktions-Apply.</a:t>
            </a:r>
          </a:p>
          <a:p>
            <a:r>
              <a:rPr lang="de-DE"/>
              <a:t>- Menschliche Freigabe: technische Gates ersetzen nicht die Verantwortungsentscheidung.</a:t>
            </a:r>
          </a:p>
          <a:p>
            <a:r>
              <a:rPr lang="de-DE"/>
              <a:t>- Policy-Stand: alle verwendeten LLMs müssen denselben freigegebenen Stand nutzen.</a:t>
            </a:r>
          </a:p>
          <a:p>
            <a:r>
              <a:rPr lang="de-DE"/>
              <a:t>- Ergebnis: Das LLM schlägt vor; Policies, Gates und Menschen kontrollieren die Freigabe.</a:t>
            </a:r>
          </a:p>
          <a:p>
            <a:r>
              <a:rPr lang="de-DE"/>
              <a:t>- Lokale LLMs: Verarbeitung innerhalb der freigegebenen Umgebung.</a:t>
            </a:r>
          </a:p>
          <a:p>
            <a:r>
              <a:rPr lang="de-DE"/>
              <a:t>- Kein direkter Internetzugang: externe Downloads sind separate, kontrollierte Schritte.</a:t>
            </a:r>
          </a:p>
          <a:p>
            <a:r>
              <a:rPr lang="de-DE"/>
              <a:t>- FastMCP 3.2.0 läuft lokal in AlmaLinux 9 und ist mit LM Studio verbunden.`r`n- CVE-Status: 0 kritisch, 0 hoch, 1 mittel; das Medium-Finding ist als Restrisiko dokumentiert.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42070-C460-4C72-B910-3304C9EE6DE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3264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 Folie trennt den bereits getesteten lokalen Stack von den noch offenen Zielarchitekturarbeiten.</a:t>
            </a:r>
          </a:p>
          <a:p>
            <a:r>
              <a:t>• Der aktuelle CPU-Teststack beweist die Konfiguration, aber noch nicht die produktive GPU- und Host-Port-Architektur.</a:t>
            </a:r>
          </a:p>
          <a:p>
            <a:r>
              <a:t>• Jeder Punkt benötigt einen Owner, einen Testnachweis und eine dokumentierte Freigabe.</a:t>
            </a:r>
          </a:p>
          <a:p>
            <a:r>
              <a:t>• Das Harness muss vor dem Deployment als Pflichtgate erfolgreich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5486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Coding-Harness fuer FastMCP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" y="868680"/>
            <a:ext cx="1078992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0">
                <a:solidFill>
                  <a:srgbClr val="B4C6D8"/>
                </a:solidFill>
                <a:latin typeface="Aptos"/>
              </a:rPr>
              <a:t>Technische Kontrollen zwischen LLM-Vorschlag und Cluster-Freigabe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6565392"/>
            <a:ext cx="11064240" cy="18288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800" b="0">
                <a:solidFill>
                  <a:srgbClr val="B4C6D8"/>
                </a:solidFill>
                <a:latin typeface="Aptos"/>
              </a:rPr>
              <a:t>FAST-MCP CODING HARNESS  |  POLICY-GATED  |  1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ANFRAGE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Auftrag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Scope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Datenarten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Abnahmekriterien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09728" cy="3246120"/>
          </a:xfrm>
          <a:prstGeom prst="rect">
            <a:avLst/>
          </a:prstGeom>
          <a:solidFill>
            <a:srgbClr val="69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HARNESS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Policies laden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Read-only-Gates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Trivy + YAML + Python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JSON-Nachweis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109728" cy="3246120"/>
          </a:xfrm>
          <a:prstGeom prst="rect">
            <a:avLst/>
          </a:prstGeom>
          <a:solidFill>
            <a:srgbClr val="3E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FREIGABE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Plan / Diff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Vier-Augen-Prinzip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GitOps / CI/CD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ArgoCD + Kyverno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08760"/>
            <a:ext cx="109728" cy="32461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77639" y="2834640"/>
            <a:ext cx="32004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400" b="1">
                <a:solidFill>
                  <a:srgbClr val="3ED5BE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834640"/>
            <a:ext cx="32004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400" b="1">
                <a:solidFill>
                  <a:srgbClr val="3ED5BE"/>
                </a:solidFill>
                <a:latin typeface="Aptos"/>
              </a:rPr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5486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Vorteile und strikte Systemtrennung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" y="868680"/>
            <a:ext cx="1078992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0">
                <a:solidFill>
                  <a:srgbClr val="B4C6D8"/>
                </a:solidFill>
                <a:latin typeface="Aptos"/>
              </a:rPr>
              <a:t>Jede Komponente hat einen klaren Scope und minimale Rechte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6565392"/>
            <a:ext cx="11064240" cy="18288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800" b="0">
                <a:solidFill>
                  <a:srgbClr val="B4C6D8"/>
                </a:solidFill>
                <a:latin typeface="Aptos"/>
              </a:rPr>
              <a:t>FAST-MCP CODING HARNESS  |  POLICY-GATED  |  2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LLM / AGENT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Analysiert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plant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erstellt Vorschlaege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keine Produktionsrechte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09728" cy="3246120"/>
          </a:xfrm>
          <a:prstGeom prst="rect">
            <a:avLst/>
          </a:prstGeom>
          <a:solidFill>
            <a:srgbClr val="69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HARNESS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Deterministische Gates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Policy-Version + Hash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read-only Mount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Exit-Code als Vertrag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109728" cy="3246120"/>
          </a:xfrm>
          <a:prstGeom prst="rect">
            <a:avLst/>
          </a:prstGeom>
          <a:solidFill>
            <a:srgbClr val="3E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CLUSTER / GITOPS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Merge Request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Plan / Diff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menschliche Freigabe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ArgoCD + Kyverno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08760"/>
            <a:ext cx="109728" cy="32461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789920" cy="640080"/>
          </a:xfrm>
          <a:prstGeom prst="roundRect">
            <a:avLst/>
          </a:prstGeom>
          <a:solidFill>
            <a:srgbClr val="1A4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Nutzen: reproduzierbar | auditierbar | fail closed | kein direkter Apply durch das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5486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Kontrollmechanismen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" y="868680"/>
            <a:ext cx="1078992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0">
                <a:solidFill>
                  <a:srgbClr val="B4C6D8"/>
                </a:solidFill>
                <a:latin typeface="Aptos"/>
              </a:rPr>
              <a:t>Die Harness ist ein technisches Gate, kein zweiter Agent mit Sonderrechten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6565392"/>
            <a:ext cx="11064240" cy="18288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800" b="0">
                <a:solidFill>
                  <a:srgbClr val="B4C6D8"/>
                </a:solidFill>
                <a:latin typeface="Aptos"/>
              </a:rPr>
              <a:t>FAST-MCP CODING HARNESS  |  POLICY-GATED  |  3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46888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1">
                <a:solidFill>
                  <a:srgbClr val="3ED5BE"/>
                </a:solidFill>
                <a:latin typeface="Aptos"/>
              </a:rPr>
              <a:t>1  Policy-Gate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25880"/>
            <a:ext cx="804672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copilot-instructions + Policies-Readme + security-rules + Profil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46888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1">
                <a:solidFill>
                  <a:srgbClr val="69AAFF"/>
                </a:solidFill>
                <a:latin typeface="Aptos"/>
              </a:rPr>
              <a:t>2  Scope-Gate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40280"/>
            <a:ext cx="804672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Repository, Branch, Pfade, Datenarten und Abbruchbedingungen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246888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1">
                <a:solidFill>
                  <a:srgbClr val="FFBE5C"/>
                </a:solidFill>
                <a:latin typeface="Aptos"/>
              </a:rPr>
              <a:t>3  Deterministische 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154680"/>
            <a:ext cx="804672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Python AST | YAML safe_load | git diff --check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69080"/>
            <a:ext cx="246888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lang="de-DE" sz="1200" b="1">
                <a:solidFill>
                  <a:srgbClr val="FF7070"/>
                </a:solidFill>
                <a:latin typeface="Aptos"/>
              </a:rPr>
              <a:t>4  Security-Gates`nTrivy FS: vuln + secret | Trivy Config | Security-Review | CVE-Gate: 0 kritisch / 0 hoch / 1 mittel</a:t>
            </a:r>
            <a:endParaRPr sz="1200" b="1">
              <a:solidFill>
                <a:srgbClr val="FF7070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83280" y="4069080"/>
            <a:ext cx="804672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Trivy FS: vuln + secret | Trivy Config | Security-Review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983480"/>
            <a:ext cx="246888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1">
                <a:solidFill>
                  <a:srgbClr val="3ED5BE"/>
                </a:solidFill>
                <a:latin typeface="Aptos"/>
              </a:rPr>
              <a:t>5  Freigabe-Gate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983480"/>
            <a:ext cx="8046720" cy="658368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Plan/Diff, Handoff, menschliche Freigabe, GitOps-Nachweis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6080760"/>
            <a:ext cx="1074420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300" b="1">
                <a:solidFill>
                  <a:srgbClr val="FF7070"/>
                </a:solidFill>
                <a:latin typeface="Aptos"/>
              </a:rPr>
              <a:t>Fehlt ein Gate oder ist ein Ergebnis nicht belastbar: Abbruch, Bericht, keine Freigabe.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5486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Praxisbeispiel: Policy-Aenderung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" y="868680"/>
            <a:ext cx="1078992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0">
                <a:solidFill>
                  <a:srgbClr val="B4C6D8"/>
                </a:solidFill>
                <a:latin typeface="Aptos"/>
              </a:rPr>
              <a:t>Eine neue Cluster-Policy durchlaeuft denselben kontrollierten Pfad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6565392"/>
            <a:ext cx="11064240" cy="18288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800" b="0">
                <a:solidFill>
                  <a:srgbClr val="B4C6D8"/>
                </a:solidFill>
                <a:latin typeface="Aptos"/>
              </a:rPr>
              <a:t>FAST-MCP CODING HARNESS  |  POLICY-GATED  |  4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417320" cy="91440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200" b="1">
                <a:solidFill>
                  <a:srgbClr val="3ED5BE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5468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Policy-Entwurf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900" b="0">
                <a:solidFill>
                  <a:srgbClr val="B4C6D8"/>
                </a:solidFill>
                <a:latin typeface="Aptos"/>
              </a:rPr>
              <a:t>Git / Confluence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331720"/>
            <a:ext cx="274320" cy="2743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800" b="1">
                <a:solidFill>
                  <a:srgbClr val="FFBE5C"/>
                </a:solidFill>
                <a:latin typeface="Aptos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057400"/>
            <a:ext cx="1417320" cy="91440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200" b="1">
                <a:solidFill>
                  <a:srgbClr val="3ED5BE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315468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Jira-Ticket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370332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900" b="0">
                <a:solidFill>
                  <a:srgbClr val="B4C6D8"/>
                </a:solidFill>
                <a:latin typeface="Aptos"/>
              </a:rPr>
              <a:t>Scope + Verantwortliche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2331720"/>
            <a:ext cx="274320" cy="2743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800" b="1">
                <a:solidFill>
                  <a:srgbClr val="FFBE5C"/>
                </a:solidFill>
                <a:latin typeface="Apto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057400"/>
            <a:ext cx="1417320" cy="91440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200" b="1">
                <a:solidFill>
                  <a:srgbClr val="3ED5BE"/>
                </a:solidFill>
                <a:latin typeface="Aptos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15468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Harness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370332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900" b="0">
                <a:solidFill>
                  <a:srgbClr val="B4C6D8"/>
                </a:solidFill>
                <a:latin typeface="Aptos"/>
              </a:rPr>
              <a:t>Gates + JSON-Bericht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8736" y="2331720"/>
            <a:ext cx="274320" cy="2743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800" b="1">
                <a:solidFill>
                  <a:srgbClr val="FFBE5C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2057400"/>
            <a:ext cx="1417320" cy="91440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200" b="1">
                <a:solidFill>
                  <a:srgbClr val="3ED5BE"/>
                </a:solidFill>
                <a:latin typeface="Aptos"/>
              </a:rPr>
              <a:t>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315468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370332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900" b="0">
                <a:solidFill>
                  <a:srgbClr val="B4C6D8"/>
                </a:solidFill>
                <a:latin typeface="Aptos"/>
              </a:rPr>
              <a:t>Security + Plan/Diff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331720"/>
            <a:ext cx="274320" cy="2743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800" b="1">
                <a:solidFill>
                  <a:srgbClr val="FFBE5C"/>
                </a:solidFill>
                <a:latin typeface="Aptos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7032" y="2057400"/>
            <a:ext cx="1417320" cy="91440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200" b="1">
                <a:solidFill>
                  <a:srgbClr val="3ED5BE"/>
                </a:solidFill>
                <a:latin typeface="Aptos"/>
              </a:rPr>
              <a:t>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315468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Freigabe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2" y="370332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900" b="0">
                <a:solidFill>
                  <a:srgbClr val="B4C6D8"/>
                </a:solidFill>
                <a:latin typeface="Aptos"/>
              </a:rPr>
              <a:t>zwei berechtigte Personen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65792" y="2331720"/>
            <a:ext cx="274320" cy="2743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800" b="1">
                <a:solidFill>
                  <a:srgbClr val="FFBE5C"/>
                </a:solidFill>
                <a:latin typeface="Aptos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2057400"/>
            <a:ext cx="1417320" cy="91440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200" b="1">
                <a:solidFill>
                  <a:srgbClr val="3ED5BE"/>
                </a:solidFill>
                <a:latin typeface="Aptos"/>
              </a:rPr>
              <a:t>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315468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Rollout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3703320"/>
            <a:ext cx="1417320" cy="50292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900" b="0">
                <a:solidFill>
                  <a:srgbClr val="B4C6D8"/>
                </a:solidFill>
                <a:latin typeface="Aptos"/>
              </a:rPr>
              <a:t>GitOps -&gt; ArgoCD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92040"/>
            <a:ext cx="10698480" cy="777240"/>
          </a:xfrm>
          <a:prstGeom prst="roundRect">
            <a:avLst/>
          </a:prstGeom>
          <a:solidFill>
            <a:srgbClr val="1A4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lang="de-DE" sz="1300" b="1">
                <a:solidFill>
                  <a:srgbClr val="F5F8FC"/>
                </a:solidFill>
                <a:latin typeface="Aptos"/>
              </a:rPr>
              <a:t>Ergebnis: FastMCP 3.2.0 | Policy-Version 12 | SHA-256 protokolliert | Trivy bestanden | CVE kritisch/hoch: 0 | Rollout verifiziert</a:t>
            </a:r>
            <a:endParaRPr sz="1300" b="1">
              <a:solidFill>
                <a:srgbClr val="F5F8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5486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Vier-Augen-Prinzip: menschlicher Eingriff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" y="868680"/>
            <a:ext cx="1078992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0">
                <a:solidFill>
                  <a:srgbClr val="B4C6D8"/>
                </a:solidFill>
                <a:latin typeface="Aptos"/>
              </a:rPr>
              <a:t>Menschen greifen an definierten Kontrollpunkten ein - nicht erst nach dem Rollout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6565392"/>
            <a:ext cx="11064240" cy="18288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800" b="0">
                <a:solidFill>
                  <a:srgbClr val="B4C6D8"/>
                </a:solidFill>
                <a:latin typeface="Aptos"/>
              </a:rPr>
              <a:t>FAST-MCP CODING HARNESS  |  POLICY-GATED  |  5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AGENT / LLM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Vorschlag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Patch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Review-Zusammenfassung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keine Freigabe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09728" cy="3246120"/>
          </a:xfrm>
          <a:prstGeom prst="rect">
            <a:avLst/>
          </a:prstGeom>
          <a:solidFill>
            <a:srgbClr val="69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PERSON A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Policy Owner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fachliche Pruefung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Scope + Risiko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Freigabe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109728" cy="32461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PERSON B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Security / Plattform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Plan + Diff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Scans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Freigabe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08760"/>
            <a:ext cx="109728" cy="3246120"/>
          </a:xfrm>
          <a:prstGeom prst="rect">
            <a:avLst/>
          </a:prstGeom>
          <a:solidFill>
            <a:srgbClr val="3E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789920" cy="640080"/>
          </a:xfrm>
          <a:prstGeom prst="roundRect">
            <a:avLst/>
          </a:prstGeom>
          <a:solidFill>
            <a:srgbClr val="69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Blockierbar: Hash-Konflikt | Scan fehlgeschlagen | Scope unklar | Risiko nicht akzeptiert | Rollback erforderlich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5486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Betrieb und Ergebnis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" y="868680"/>
            <a:ext cx="10789920" cy="32004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100" b="0">
                <a:solidFill>
                  <a:srgbClr val="B4C6D8"/>
                </a:solidFill>
                <a:latin typeface="Aptos"/>
              </a:rPr>
              <a:t>Gemeinsamer Policy-Stand fuer Container, Cluster-LLMs und optionale WSL-Tests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6565392"/>
            <a:ext cx="11064240" cy="182880"/>
          </a:xfrm>
          <a:prstGeom prst="roundRect">
            <a:avLst/>
          </a:prstGeom>
          <a:solidFill>
            <a:srgbClr val="0F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800" b="0">
                <a:solidFill>
                  <a:srgbClr val="B4C6D8"/>
                </a:solidFill>
                <a:latin typeface="Aptos"/>
              </a:rPr>
              <a:t>FAST-MCP CODING HARNESS  |  POLICY-GATED  |  6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CONTAINER / CI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Primaerer Nachweis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read-only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network=none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Trivy-Cache separat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09728" cy="3246120"/>
          </a:xfrm>
          <a:prstGeom prst="rect">
            <a:avLst/>
          </a:prstGeom>
          <a:solidFill>
            <a:srgbClr val="3E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CLUSTER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GitOps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ArgoCD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Kyverno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Audit + Jira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109728" cy="32461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1508760"/>
            <a:ext cx="3429000" cy="3246120"/>
          </a:xfrm>
          <a:prstGeom prst="roundRect">
            <a:avLst/>
          </a:prstGeom>
          <a:solidFill>
            <a:srgbClr val="1C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WSL OPTIONAL</a:t>
            </a:r>
            <a:br/>
            <a:br/>
            <a:r>
              <a:rPr sz="1500" b="1">
                <a:solidFill>
                  <a:srgbClr val="F5F8FC"/>
                </a:solidFill>
                <a:latin typeface="Aptos"/>
              </a:rPr>
              <a:t>Lokale Vorpruefung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kein direkter Apply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gleiche Policies</a:t>
            </a:r>
            <a:br/>
            <a:r>
              <a:rPr sz="1500" b="1">
                <a:solidFill>
                  <a:srgbClr val="F5F8FC"/>
                </a:solidFill>
                <a:latin typeface="Aptos"/>
              </a:rPr>
              <a:t>Container-Freigabe bleibt verbindlich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08760"/>
            <a:ext cx="109728" cy="3246120"/>
          </a:xfrm>
          <a:prstGeom prst="rect">
            <a:avLst/>
          </a:prstGeom>
          <a:solidFill>
            <a:srgbClr val="69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789920" cy="914400"/>
          </a:xfrm>
          <a:prstGeom prst="roundRect">
            <a:avLst/>
          </a:prstGeom>
          <a:solidFill>
            <a:srgbClr val="3E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lang="de-DE" sz="1200" b="1">
                <a:solidFill>
                  <a:srgbClr val="0F1824"/>
                </a:solidFill>
                <a:latin typeface="Aptos"/>
              </a:rPr>
              <a:t>LLMs laufen lokal. Kein direkter Internetzugang.`nFastMCP 3.2.0 | CVE: 0 kritisch / 0 hoch / 1 mittel (diskcache, keine Fix-Version).</a:t>
            </a:r>
            <a:endParaRPr sz="1200" b="1">
              <a:solidFill>
                <a:srgbClr val="0F182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6991"/>
                </a:solidFill>
                <a:latin typeface="Aptos"/>
              </a:rPr>
              <a:t>ZIELARCHITEKTUR – OFFENE TO-DOS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B40"/>
                </a:solidFill>
                <a:latin typeface="Aptos"/>
              </a:rPr>
              <a:t>Vom Harness-Test zur vollständigen Gateway-Architektur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B36"/>
                </a:solidFill>
                <a:latin typeface="Aptos"/>
              </a:defRPr>
            </a:pPr>
            <a:r>
              <a:t>• Nginx: produktives TLS 1.3, Authentifizierung, Rate Limiting und Host-Portfreigabe abschließen</a:t>
            </a:r>
          </a:p>
          <a:p>
            <a:pPr>
              <a:spcAft>
                <a:spcPts val="800"/>
              </a:spcAft>
              <a:defRPr sz="1600">
                <a:solidFill>
                  <a:srgbClr val="202B36"/>
                </a:solidFill>
                <a:latin typeface="Aptos"/>
              </a:defRPr>
            </a:pPr>
            <a:r>
              <a:t>• LiteLLM: ACLs, API-Keys, Token-Tracking und freigegebene Modellaliasse konfigurieren</a:t>
            </a:r>
          </a:p>
          <a:p>
            <a:pPr>
              <a:spcAft>
                <a:spcPts val="800"/>
              </a:spcAft>
              <a:defRPr sz="1600">
                <a:solidFill>
                  <a:srgbClr val="202B36"/>
                </a:solidFill>
                <a:latin typeface="Aptos"/>
              </a:defRPr>
            </a:pPr>
            <a:r>
              <a:t>• Ollama: RAG-/Coding-Instanzen mit getrennten Netzwerken, Volumes und Ressourcen bereitstellen</a:t>
            </a:r>
          </a:p>
          <a:p>
            <a:pPr>
              <a:spcAft>
                <a:spcPts val="800"/>
              </a:spcAft>
              <a:defRPr sz="1600">
                <a:solidFill>
                  <a:srgbClr val="202B36"/>
                </a:solidFill>
                <a:latin typeface="Aptos"/>
              </a:defRPr>
            </a:pPr>
            <a:r>
              <a:t>• GPU/ROCm auf dem Zielsystem nachweisen oder verbindliches CPU-Betriebsprofil freigeben</a:t>
            </a:r>
          </a:p>
          <a:p>
            <a:pPr>
              <a:spcAft>
                <a:spcPts val="800"/>
              </a:spcAft>
              <a:defRPr sz="1600">
                <a:solidFill>
                  <a:srgbClr val="202B36"/>
                </a:solidFill>
                <a:latin typeface="Aptos"/>
              </a:defRPr>
            </a:pPr>
            <a:r>
              <a:t>• FastMCP ausschließlich über LiteLLM routen; direkten LM-Studio-Fallback entfernen</a:t>
            </a:r>
          </a:p>
          <a:p>
            <a:pPr>
              <a:spcAft>
                <a:spcPts val="800"/>
              </a:spcAft>
              <a:defRPr sz="1600">
                <a:solidFill>
                  <a:srgbClr val="202B36"/>
                </a:solidFill>
                <a:latin typeface="Aptos"/>
              </a:defRPr>
            </a:pPr>
            <a:r>
              <a:t>• Harness als CI-/GitOps-Pflichtgate mit PII-Scan, Evaluation und Evidence Bundle verankern</a:t>
            </a:r>
          </a:p>
          <a:p>
            <a:pPr>
              <a:spcAft>
                <a:spcPts val="800"/>
              </a:spcAft>
              <a:defRPr sz="1600">
                <a:solidFill>
                  <a:srgbClr val="202B36"/>
                </a:solidFill>
                <a:latin typeface="Aptos"/>
              </a:defRPr>
            </a:pPr>
            <a:r>
              <a:t>• Governance: Owner, Rechtsprüfung, Retention und Human-Oversight-Nachweise abschließen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806440"/>
            <a:ext cx="10515600" cy="502920"/>
          </a:xfrm>
          <a:prstGeom prst="roundRect">
            <a:avLst/>
          </a:prstGeom>
          <a:solidFill>
            <a:srgbClr val="122B40"/>
          </a:solidFill>
          <a:ln>
            <a:solidFill>
              <a:srgbClr val="12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61888"/>
            <a:ext cx="9966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Freigabe erst nach erfolgreichem End-to-End-Test und menschlicher Architektur-/Governance-Freigabe.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</Words>
  <Application>Microsoft Office PowerPoint</Application>
  <PresentationFormat>Breitbild</PresentationFormat>
  <Paragraphs>121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Andreas Engelhardt</cp:lastModifiedBy>
  <cp:revision>6</cp:revision>
  <dcterms:created xsi:type="dcterms:W3CDTF">2013-01-27T09:14:16Z</dcterms:created>
  <dcterms:modified xsi:type="dcterms:W3CDTF">2026-09-09T13:42:06Z</dcterms:modified>
  <cp:category/>
</cp:coreProperties>
</file>